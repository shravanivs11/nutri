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62" r:id="rId9"/>
    <p:sldId id="264" r:id="rId10"/>
    <p:sldId id="278" r:id="rId11"/>
    <p:sldId id="277" r:id="rId12"/>
    <p:sldId id="286" r:id="rId13"/>
    <p:sldId id="28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85953524"/>
              </p:ext>
            </p:extLst>
          </p:nvPr>
        </p:nvGraphicFramePr>
        <p:xfrm>
          <a:off x="1297858" y="2600315"/>
          <a:ext cx="9396388" cy="2167128"/>
        </p:xfrm>
        <a:graphic>
          <a:graphicData uri="http://schemas.openxmlformats.org/drawingml/2006/table">
            <a:tbl>
              <a:tblPr>
                <a:noFill/>
                <a:tableStyleId>{0AAD8F4D-43EB-41E5-8A38-28AB6DFB1B60}</a:tableStyleId>
              </a:tblPr>
              <a:tblGrid>
                <a:gridCol w="2066266">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sz="1600" dirty="0">
                          <a:latin typeface="Times New Roman" panose="02020603050405020304" pitchFamily="18" charset="0"/>
                          <a:cs typeface="Times New Roman" panose="02020603050405020304" pitchFamily="18" charset="0"/>
                        </a:rPr>
                        <a:t>       </a:t>
                      </a:r>
                      <a:r>
                        <a:rPr lang="en-IN" sz="1400" dirty="0">
                          <a:latin typeface="+mn-lt"/>
                          <a:cs typeface="Times New Roman" panose="02020603050405020304" pitchFamily="18" charset="0"/>
                        </a:rPr>
                        <a:t>Shravani V S</a:t>
                      </a:r>
                      <a:endParaRPr sz="1600" dirty="0">
                        <a:latin typeface="+mn-lt"/>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shravanivs0611@gmail.com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           7204660587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Healthcare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Nutrition Agent</a:t>
            </a:r>
            <a:endParaRPr lang="en-IN" sz="2400" b="1" dirty="0">
              <a:highlight>
                <a:srgbClr val="FFFF00"/>
              </a:highlight>
            </a:endParaRPr>
          </a:p>
        </p:txBody>
      </p:sp>
      <p:pic>
        <p:nvPicPr>
          <p:cNvPr id="3" name="Picture 2">
            <a:extLst>
              <a:ext uri="{FF2B5EF4-FFF2-40B4-BE49-F238E27FC236}">
                <a16:creationId xmlns:a16="http://schemas.microsoft.com/office/drawing/2014/main" id="{4CC8EAEC-9903-D3A1-215E-F2A39D03248D}"/>
              </a:ext>
            </a:extLst>
          </p:cNvPr>
          <p:cNvPicPr>
            <a:picLocks noChangeAspect="1"/>
          </p:cNvPicPr>
          <p:nvPr/>
        </p:nvPicPr>
        <p:blipFill>
          <a:blip r:embed="rId3"/>
          <a:stretch>
            <a:fillRect/>
          </a:stretch>
        </p:blipFill>
        <p:spPr>
          <a:xfrm>
            <a:off x="4237589" y="3660326"/>
            <a:ext cx="717869" cy="9376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909310"/>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Rapid urbanization and increasing population have led to a massive rise in waste generation. Many cities and communities struggle with inefficient waste collection, poor waste segregation, overflowing bins, lack of recycling awareness, and improper disposal methods. Traditional waste management systems often fail to provide real-time monitoring and optimized collection, leading to environmental pollution, health risks, and resource wastage.</a:t>
            </a:r>
          </a:p>
          <a:p>
            <a:pPr fontAlgn="base"/>
            <a:endParaRPr lang="en-US" dirty="0"/>
          </a:p>
          <a:p>
            <a:pPr fontAlgn="base"/>
            <a:r>
              <a:rPr lang="en-US" b="1" dirty="0"/>
              <a:t>The Objective</a:t>
            </a:r>
            <a:r>
              <a:rPr lang="en-US" dirty="0"/>
              <a:t> </a:t>
            </a:r>
          </a:p>
          <a:p>
            <a:r>
              <a:rPr lang="en-US" dirty="0"/>
              <a:t>Build an AI-powered Smart Waste Management Agent that delivers intelligent waste monitoring, segregation guidance, recycling recommendations, and optimized collection management for households, industries, and municipalities. The solution should:</a:t>
            </a:r>
          </a:p>
          <a:p>
            <a:r>
              <a:rPr lang="en-US" b="1" dirty="0"/>
              <a:t>Smart Waste Segregation</a:t>
            </a:r>
            <a:r>
              <a:rPr lang="en-US" dirty="0"/>
              <a:t> – Identify and classify waste into biodegradable, recyclable, hazardous, and electronic categories. </a:t>
            </a:r>
          </a:p>
          <a:p>
            <a:r>
              <a:rPr lang="en-US" b="1" dirty="0"/>
              <a:t>Real-Time Bin Monitoring</a:t>
            </a:r>
            <a:r>
              <a:rPr lang="en-US" dirty="0"/>
              <a:t> – Monitor waste levels using sensors and notify authorities when bins are full. </a:t>
            </a:r>
          </a:p>
          <a:p>
            <a:r>
              <a:rPr lang="en-US" b="1" dirty="0"/>
              <a:t>Collection Route Optimization</a:t>
            </a:r>
            <a:r>
              <a:rPr lang="en-US" dirty="0"/>
              <a:t> – Suggest efficient garbage collection routes to reduce fuel consumption and operational costs. </a:t>
            </a:r>
          </a:p>
          <a:p>
            <a:r>
              <a:rPr lang="en-US" b="1" dirty="0"/>
              <a:t>Recycling Recommendation System</a:t>
            </a:r>
            <a:r>
              <a:rPr lang="en-US" dirty="0"/>
              <a:t> – Provide guidance on recycling methods and reusable alternatives. </a:t>
            </a:r>
          </a:p>
          <a:p>
            <a:r>
              <a:rPr lang="en-US" b="1" dirty="0"/>
              <a:t>Citizen Awareness &amp; Assistance</a:t>
            </a:r>
            <a:r>
              <a:rPr lang="en-US" dirty="0"/>
              <a:t> – Educate users about proper disposal practices through AI-based interaction. </a:t>
            </a:r>
          </a:p>
          <a:p>
            <a:r>
              <a:rPr lang="en-US" b="1" dirty="0"/>
              <a:t>Complaint &amp; Feedback Management</a:t>
            </a:r>
            <a:r>
              <a:rPr lang="en-US" dirty="0"/>
              <a:t> – Allow users to report unclean areas, illegal dumping, or missed collections. </a:t>
            </a:r>
          </a:p>
          <a:p>
            <a:r>
              <a:rPr lang="en-US" b="1" dirty="0"/>
              <a:t>Environmental Analytics Dashboard</a:t>
            </a:r>
            <a:r>
              <a:rPr lang="en-US" dirty="0"/>
              <a:t> – Visualize waste generation trends, recycling rates, and environmental impact. </a:t>
            </a:r>
          </a:p>
          <a:p>
            <a:r>
              <a:rPr lang="en-US" b="1" dirty="0"/>
              <a:t>Multi-Agent System</a:t>
            </a:r>
            <a:r>
              <a:rPr lang="en-US" dirty="0"/>
              <a:t> </a:t>
            </a:r>
          </a:p>
          <a:p>
            <a:pPr lvl="1"/>
            <a:r>
              <a:rPr lang="en-US" b="1" dirty="0"/>
              <a:t>Waste Classification Agent</a:t>
            </a:r>
            <a:r>
              <a:rPr lang="en-US" dirty="0"/>
              <a:t> (identifies waste types) </a:t>
            </a:r>
          </a:p>
          <a:p>
            <a:pPr lvl="1"/>
            <a:r>
              <a:rPr lang="en-US" b="1" dirty="0"/>
              <a:t>Recycling Advisory Agent</a:t>
            </a:r>
            <a:r>
              <a:rPr lang="en-US" dirty="0"/>
              <a:t> (suggests eco-friendly disposal methods) </a:t>
            </a:r>
          </a:p>
          <a:p>
            <a:pPr lvl="1"/>
            <a:r>
              <a:rPr lang="en-US" b="1" dirty="0"/>
              <a:t>Collection Management Agent</a:t>
            </a:r>
            <a:r>
              <a:rPr lang="en-US" dirty="0"/>
              <a:t> (optimizes pickup schedules) </a:t>
            </a:r>
          </a:p>
          <a:p>
            <a:pPr lvl="1"/>
            <a:r>
              <a:rPr lang="en-US" b="1" dirty="0"/>
              <a:t>Awareness &amp; Support Agent</a:t>
            </a:r>
            <a:r>
              <a:rPr lang="en-US" dirty="0"/>
              <a:t> (educates and assists citizens) </a:t>
            </a:r>
          </a:p>
          <a:p>
            <a:r>
              <a:rPr lang="en-US" b="1" dirty="0"/>
              <a:t>Sustainability Focus</a:t>
            </a:r>
            <a:r>
              <a:rPr lang="en-US" dirty="0"/>
              <a:t> – Promote cleaner cities, improved recycling efficiency, and reduced environmental pollution. </a:t>
            </a:r>
          </a:p>
          <a:p>
            <a:br>
              <a:rPr lang="en-US" dirty="0"/>
            </a:br>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985433"/>
          </a:xfrm>
          <a:prstGeom prst="rect">
            <a:avLst/>
          </a:prstGeom>
          <a:noFill/>
        </p:spPr>
        <p:txBody>
          <a:bodyPr wrap="square" rtlCol="0">
            <a:spAutoFit/>
          </a:bodyPr>
          <a:lstStyle/>
          <a:p>
            <a:pPr fontAlgn="base"/>
            <a:endParaRPr lang="en-IN" dirty="0"/>
          </a:p>
          <a:p>
            <a:pPr fontAlgn="base"/>
            <a:r>
              <a:rPr lang="en-IN" sz="1600" dirty="0"/>
              <a:t>I used </a:t>
            </a:r>
            <a:r>
              <a:rPr lang="en-IN" sz="1600" dirty="0" err="1">
                <a:highlight>
                  <a:srgbClr val="FFFF00"/>
                </a:highlight>
              </a:rPr>
              <a:t>LangFlow</a:t>
            </a:r>
            <a:r>
              <a:rPr lang="en-IN" sz="1600" dirty="0">
                <a:highlight>
                  <a:srgbClr val="FFFF00"/>
                </a:highlight>
              </a:rPr>
              <a:t> + IBM watsonx.ai + Granite Models </a:t>
            </a:r>
          </a:p>
          <a:p>
            <a:pPr fontAlgn="base"/>
            <a:endParaRPr lang="en-IN" sz="1600" dirty="0">
              <a:highlight>
                <a:srgbClr val="FFFF00"/>
              </a:highlight>
            </a:endParaRPr>
          </a:p>
          <a:p>
            <a:pPr fontAlgn="base"/>
            <a:r>
              <a:rPr lang="en-IN" sz="1600" dirty="0" err="1"/>
              <a:t>LangFlow</a:t>
            </a:r>
            <a:r>
              <a:rPr lang="en-IN" sz="1600" dirty="0"/>
              <a:t> helped in designing the application flow visually, IBM watsonx.ai provided the AI development platform, and Granite Models were used for generating </a:t>
            </a:r>
            <a:r>
              <a:rPr lang="en-IN" sz="1600" dirty="0" err="1"/>
              <a:t>intelliegent</a:t>
            </a:r>
            <a:r>
              <a:rPr lang="en-IN" sz="1600" dirty="0"/>
              <a:t> responses and processing user queries </a:t>
            </a:r>
            <a:r>
              <a:rPr lang="en-IN" sz="1600" dirty="0" err="1"/>
              <a:t>accuretly</a:t>
            </a:r>
            <a:r>
              <a:rPr lang="en-IN" sz="1600" dirty="0"/>
              <a:t>.  </a:t>
            </a:r>
          </a:p>
          <a:p>
            <a:pPr fontAlgn="base"/>
            <a:endParaRPr lang="en-IN" sz="1600" dirty="0">
              <a:highlight>
                <a:srgbClr val="FFFF00"/>
              </a:highlight>
            </a:endParaRPr>
          </a:p>
          <a:p>
            <a:pPr fontAlgn="base"/>
            <a:r>
              <a:rPr lang="en-IN" sz="1600" dirty="0">
                <a:highlight>
                  <a:srgbClr val="FFFF00"/>
                </a:highlight>
              </a:rPr>
              <a:t> </a:t>
            </a:r>
          </a:p>
          <a:p>
            <a:pPr fontAlgn="base"/>
            <a:endParaRPr lang="en-IN" sz="1600" dirty="0"/>
          </a:p>
          <a:p>
            <a:pPr marL="285750" indent="-285750" fontAlgn="base">
              <a:buFont typeface="Arial" panose="020B0604020202020204" pitchFamily="34" charset="0"/>
              <a:buChar char="•"/>
            </a:pPr>
            <a:endParaRPr lang="en-IN" sz="1600" dirty="0"/>
          </a:p>
          <a:p>
            <a:pPr fontAlgn="base"/>
            <a:endParaRPr lang="en-IN" sz="1600" dirty="0"/>
          </a:p>
          <a:p>
            <a:pPr fontAlgn="base"/>
            <a:endParaRPr lang="en-US" sz="1600"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832092"/>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Our proposed solution is an AI-powered </a:t>
            </a:r>
            <a:r>
              <a:rPr lang="en-US" b="1" dirty="0"/>
              <a:t>Smart Waste Management Agent</a:t>
            </a:r>
            <a:r>
              <a:rPr lang="en-US" dirty="0"/>
              <a:t> designed to improve waste collection, segregation, recycling, and environmental sustainability using intelligent automation and real-time monitoring.</a:t>
            </a:r>
          </a:p>
          <a:p>
            <a:r>
              <a:rPr lang="en-US" dirty="0"/>
              <a:t>The system uses AI, IoT sensors, and data analytics to help citizens and municipal authorities manage waste efficiently and reduce environmental pollution.</a:t>
            </a:r>
          </a:p>
          <a:p>
            <a:r>
              <a:rPr lang="en-US" b="1" dirty="0"/>
              <a:t>Key Features</a:t>
            </a:r>
          </a:p>
          <a:p>
            <a:r>
              <a:rPr lang="en-US" b="1" dirty="0"/>
              <a:t>AI-Based Waste Classification</a:t>
            </a:r>
            <a:br>
              <a:rPr lang="en-US" dirty="0"/>
            </a:br>
            <a:r>
              <a:rPr lang="en-US" dirty="0"/>
              <a:t>Automatically identifies waste as biodegradable, recyclable, hazardous, or electronic waste. </a:t>
            </a:r>
          </a:p>
          <a:p>
            <a:r>
              <a:rPr lang="en-US" b="1" dirty="0"/>
              <a:t>Smart Bin Monitoring</a:t>
            </a:r>
            <a:br>
              <a:rPr lang="en-US" dirty="0"/>
            </a:br>
            <a:r>
              <a:rPr lang="en-US" dirty="0"/>
              <a:t>IoT-enabled bins monitor waste levels and send alerts when bins are full. </a:t>
            </a:r>
          </a:p>
          <a:p>
            <a:r>
              <a:rPr lang="en-US" b="1" dirty="0"/>
              <a:t>Optimized Waste Collection</a:t>
            </a:r>
            <a:br>
              <a:rPr lang="en-US" dirty="0"/>
            </a:br>
            <a:r>
              <a:rPr lang="en-US" dirty="0"/>
              <a:t>AI suggests the shortest and most efficient collection routes to save fuel, time, and operational cost. </a:t>
            </a:r>
          </a:p>
          <a:p>
            <a:r>
              <a:rPr lang="en-US" b="1" dirty="0"/>
              <a:t>Recycling Recommendation System</a:t>
            </a:r>
            <a:br>
              <a:rPr lang="en-US" dirty="0"/>
            </a:br>
            <a:r>
              <a:rPr lang="en-US" dirty="0"/>
              <a:t>Provides guidance for proper recycling and eco-friendly disposal methods. </a:t>
            </a:r>
          </a:p>
          <a:p>
            <a:r>
              <a:rPr lang="en-US" b="1" dirty="0"/>
              <a:t>Citizen Support &amp; Awareness</a:t>
            </a:r>
            <a:br>
              <a:rPr lang="en-US" dirty="0"/>
            </a:br>
            <a:r>
              <a:rPr lang="en-US" dirty="0"/>
              <a:t>Educates users about waste segregation and cleanliness through an interactive AI assistant. </a:t>
            </a:r>
          </a:p>
          <a:p>
            <a:r>
              <a:rPr lang="en-US" b="1" dirty="0"/>
              <a:t>Complaint Management System</a:t>
            </a:r>
            <a:br>
              <a:rPr lang="en-US" dirty="0"/>
            </a:br>
            <a:r>
              <a:rPr lang="en-US" dirty="0"/>
              <a:t>Users can report overflowing bins, illegal dumping, or missed garbage collection. </a:t>
            </a:r>
          </a:p>
          <a:p>
            <a:r>
              <a:rPr lang="en-US" b="1" dirty="0"/>
              <a:t>Analytics Dashboard</a:t>
            </a:r>
            <a:br>
              <a:rPr lang="en-US" dirty="0"/>
            </a:br>
            <a:r>
              <a:rPr lang="en-US" dirty="0"/>
              <a:t>Displays waste generation statistics, recycling performance, and environmental impact through visual dashboards. </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Granite-4-h-small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File component - </a:t>
            </a:r>
            <a:r>
              <a:rPr lang="en-US" dirty="0"/>
              <a:t>Stores and retrieves user data, meal logs, and nutritional datasets for analysis and tracking.</a:t>
            </a:r>
          </a:p>
          <a:p>
            <a:endParaRPr lang="en-US" dirty="0"/>
          </a:p>
          <a:p>
            <a:endParaRPr lang="en-US" dirty="0"/>
          </a:p>
          <a:p>
            <a:r>
              <a:rPr lang="en-US" dirty="0"/>
              <a:t>]</a:t>
            </a:r>
            <a:endParaRPr lang="en-US" dirty="0">
              <a:highlight>
                <a:srgbClr val="FFFF00"/>
              </a:highlight>
            </a:endParaRP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tretch>
            <a:fillRect/>
          </a:stretch>
        </p:blipFill>
        <p:spPr>
          <a:xfrm>
            <a:off x="464439" y="1066220"/>
            <a:ext cx="11469656"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2" name="Picture 1" descr="A screenshot of a computer&#10;&#10;AI-generated content may be incorrect.">
            <a:extLst>
              <a:ext uri="{FF2B5EF4-FFF2-40B4-BE49-F238E27FC236}">
                <a16:creationId xmlns:a16="http://schemas.microsoft.com/office/drawing/2014/main" id="{E9DB3200-E2EC-A058-B02D-E1510060484E}"/>
              </a:ext>
            </a:extLst>
          </p:cNvPr>
          <p:cNvPicPr>
            <a:picLocks noChangeAspect="1"/>
          </p:cNvPicPr>
          <p:nvPr/>
        </p:nvPicPr>
        <p:blipFill>
          <a:blip r:embed="rId3"/>
          <a:stretch>
            <a:fillRect/>
          </a:stretch>
        </p:blipFill>
        <p:spPr>
          <a:xfrm>
            <a:off x="797873" y="1572554"/>
            <a:ext cx="4579423" cy="2822245"/>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03614573-D426-9337-9C0E-5207B9123920}"/>
              </a:ext>
            </a:extLst>
          </p:cNvPr>
          <p:cNvPicPr>
            <a:picLocks noChangeAspect="1"/>
          </p:cNvPicPr>
          <p:nvPr/>
        </p:nvPicPr>
        <p:blipFill>
          <a:blip r:embed="rId4"/>
          <a:stretch>
            <a:fillRect/>
          </a:stretch>
        </p:blipFill>
        <p:spPr>
          <a:xfrm>
            <a:off x="5730818" y="1448020"/>
            <a:ext cx="5074227" cy="2812844"/>
          </a:xfrm>
          <a:prstGeom prst="rect">
            <a:avLst/>
          </a:prstGeom>
        </p:spPr>
      </p:pic>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IN" sz="2000" dirty="0"/>
              <a:t>Git Hub URL- github.com/shravanivs11</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342900" y="2003266"/>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4374353-D898-450C-8DB5-00FBEFF19BF3}">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1249</TotalTime>
  <Words>1295</Words>
  <Application>Microsoft Office PowerPoint</Application>
  <PresentationFormat>Widescreen</PresentationFormat>
  <Paragraphs>138</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Shravani V S</cp:lastModifiedBy>
  <cp:revision>41</cp:revision>
  <dcterms:created xsi:type="dcterms:W3CDTF">2025-07-08T05:06:56Z</dcterms:created>
  <dcterms:modified xsi:type="dcterms:W3CDTF">2026-05-09T16:40:00Z</dcterms:modified>
</cp:coreProperties>
</file>